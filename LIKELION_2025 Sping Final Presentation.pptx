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5" r:id="rId2"/>
    <p:sldMasterId id="2147483692" r:id="rId3"/>
    <p:sldMasterId id="2147483658" r:id="rId4"/>
    <p:sldMasterId id="2147483690" r:id="rId5"/>
    <p:sldMasterId id="2147483660" r:id="rId6"/>
    <p:sldMasterId id="2147483678" r:id="rId7"/>
    <p:sldMasterId id="2147483698" r:id="rId8"/>
  </p:sldMasterIdLst>
  <p:notesMasterIdLst>
    <p:notesMasterId r:id="rId24"/>
  </p:notesMasterIdLst>
  <p:sldIdLst>
    <p:sldId id="256" r:id="rId9"/>
    <p:sldId id="257" r:id="rId10"/>
    <p:sldId id="332" r:id="rId11"/>
    <p:sldId id="291" r:id="rId12"/>
    <p:sldId id="263" r:id="rId13"/>
    <p:sldId id="334" r:id="rId14"/>
    <p:sldId id="264" r:id="rId15"/>
    <p:sldId id="335" r:id="rId16"/>
    <p:sldId id="336" r:id="rId17"/>
    <p:sldId id="292" r:id="rId18"/>
    <p:sldId id="338" r:id="rId19"/>
    <p:sldId id="337" r:id="rId20"/>
    <p:sldId id="293" r:id="rId21"/>
    <p:sldId id="339" r:id="rId22"/>
    <p:sldId id="33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42" userDrawn="1">
          <p15:clr>
            <a:srgbClr val="A4A3A4"/>
          </p15:clr>
        </p15:guide>
        <p15:guide id="2" pos="7469" userDrawn="1">
          <p15:clr>
            <a:srgbClr val="A4A3A4"/>
          </p15:clr>
        </p15:guide>
        <p15:guide id="3" pos="914" userDrawn="1">
          <p15:clr>
            <a:srgbClr val="A4A3A4"/>
          </p15:clr>
        </p15:guide>
        <p15:guide id="7" pos="4180" userDrawn="1">
          <p15:clr>
            <a:srgbClr val="A4A3A4"/>
          </p15:clr>
        </p15:guide>
        <p15:guide id="8" orient="horz" pos="278" userDrawn="1">
          <p15:clr>
            <a:srgbClr val="A4A3A4"/>
          </p15:clr>
        </p15:guide>
        <p15:guide id="9" pos="7680" userDrawn="1">
          <p15:clr>
            <a:srgbClr val="A4A3A4"/>
          </p15:clr>
        </p15:guide>
        <p15:guide id="10" pos="1050" userDrawn="1">
          <p15:clr>
            <a:srgbClr val="A4A3A4"/>
          </p15:clr>
        </p15:guide>
        <p15:guide id="11" pos="1731" userDrawn="1">
          <p15:clr>
            <a:srgbClr val="A4A3A4"/>
          </p15:clr>
        </p15:guide>
        <p15:guide id="12" pos="1867" userDrawn="1">
          <p15:clr>
            <a:srgbClr val="A4A3A4"/>
          </p15:clr>
        </p15:guide>
        <p15:guide id="13" pos="2547" userDrawn="1">
          <p15:clr>
            <a:srgbClr val="A4A3A4"/>
          </p15:clr>
        </p15:guide>
        <p15:guide id="14" pos="2683" userDrawn="1">
          <p15:clr>
            <a:srgbClr val="A4A3A4"/>
          </p15:clr>
        </p15:guide>
        <p15:guide id="15" pos="3500" userDrawn="1">
          <p15:clr>
            <a:srgbClr val="A4A3A4"/>
          </p15:clr>
        </p15:guide>
        <p15:guide id="16" pos="3364" userDrawn="1">
          <p15:clr>
            <a:srgbClr val="A4A3A4"/>
          </p15:clr>
        </p15:guide>
        <p15:guide id="18" pos="4316" userDrawn="1">
          <p15:clr>
            <a:srgbClr val="A4A3A4"/>
          </p15:clr>
        </p15:guide>
        <p15:guide id="19" pos="5133" userDrawn="1">
          <p15:clr>
            <a:srgbClr val="A4A3A4"/>
          </p15:clr>
        </p15:guide>
        <p15:guide id="21" pos="4997" userDrawn="1">
          <p15:clr>
            <a:srgbClr val="A4A3A4"/>
          </p15:clr>
        </p15:guide>
        <p15:guide id="22" pos="5949" userDrawn="1">
          <p15:clr>
            <a:srgbClr val="A4A3A4"/>
          </p15:clr>
        </p15:guide>
        <p15:guide id="23" pos="5813" userDrawn="1">
          <p15:clr>
            <a:srgbClr val="A4A3A4"/>
          </p15:clr>
        </p15:guide>
        <p15:guide id="24" pos="6788" userDrawn="1">
          <p15:clr>
            <a:srgbClr val="A4A3A4"/>
          </p15:clr>
        </p15:guide>
        <p15:guide id="25" pos="6630" userDrawn="1">
          <p15:clr>
            <a:srgbClr val="A4A3A4"/>
          </p15:clr>
        </p15:guide>
        <p15:guide id="28" orient="horz" pos="3521" userDrawn="1">
          <p15:clr>
            <a:srgbClr val="A4A3A4"/>
          </p15:clr>
        </p15:guide>
        <p15:guide id="29" orient="horz" pos="2886" userDrawn="1">
          <p15:clr>
            <a:srgbClr val="A4A3A4"/>
          </p15:clr>
        </p15:guide>
        <p15:guide id="30" orient="horz" pos="2228" userDrawn="1">
          <p15:clr>
            <a:srgbClr val="A4A3A4"/>
          </p15:clr>
        </p15:guide>
        <p15:guide id="31" orient="horz" pos="2092" userDrawn="1">
          <p15:clr>
            <a:srgbClr val="A4A3A4"/>
          </p15:clr>
        </p15:guide>
        <p15:guide id="32" orient="horz" pos="1434" userDrawn="1">
          <p15:clr>
            <a:srgbClr val="A4A3A4"/>
          </p15:clr>
        </p15:guide>
        <p15:guide id="33" orient="horz" pos="935" userDrawn="1">
          <p15:clr>
            <a:srgbClr val="A4A3A4"/>
          </p15:clr>
        </p15:guide>
        <p15:guide id="34" orient="horz" pos="799" userDrawn="1">
          <p15:clr>
            <a:srgbClr val="A4A3A4"/>
          </p15:clr>
        </p15:guide>
        <p15:guide id="35" orient="horz" pos="2750" userDrawn="1">
          <p15:clr>
            <a:srgbClr val="A4A3A4"/>
          </p15:clr>
        </p15:guide>
        <p15:guide id="36" orient="horz" pos="1570" userDrawn="1">
          <p15:clr>
            <a:srgbClr val="A4A3A4"/>
          </p15:clr>
        </p15:guide>
        <p15:guide id="37" pos="234" userDrawn="1">
          <p15:clr>
            <a:srgbClr val="A4A3A4"/>
          </p15:clr>
        </p15:guide>
        <p15:guide id="38" orient="horz" userDrawn="1">
          <p15:clr>
            <a:srgbClr val="A4A3A4"/>
          </p15:clr>
        </p15:guide>
        <p15:guide id="39" orient="horz" pos="3385" userDrawn="1">
          <p15:clr>
            <a:srgbClr val="A4A3A4"/>
          </p15:clr>
        </p15:guide>
        <p15:guide id="40" orient="horz" pos="4320" userDrawn="1">
          <p15:clr>
            <a:srgbClr val="A4A3A4"/>
          </p15:clr>
        </p15:guide>
        <p15:guide id="42" pos="73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710"/>
    <a:srgbClr val="F78D3B"/>
    <a:srgbClr val="423F3B"/>
    <a:srgbClr val="FFF3EC"/>
    <a:srgbClr val="A8A4A2"/>
    <a:srgbClr val="78726E"/>
    <a:srgbClr val="595552"/>
    <a:srgbClr val="78726F"/>
    <a:srgbClr val="E0DFDE"/>
    <a:srgbClr val="D1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42"/>
    <p:restoredTop sz="34761"/>
  </p:normalViewPr>
  <p:slideViewPr>
    <p:cSldViewPr snapToGrid="0">
      <p:cViewPr varScale="1">
        <p:scale>
          <a:sx n="38" d="100"/>
          <a:sy n="38" d="100"/>
        </p:scale>
        <p:origin x="2976" y="176"/>
      </p:cViewPr>
      <p:guideLst>
        <p:guide orient="horz" pos="4042"/>
        <p:guide pos="7469"/>
        <p:guide pos="914"/>
        <p:guide pos="4180"/>
        <p:guide orient="horz" pos="278"/>
        <p:guide pos="7680"/>
        <p:guide pos="1050"/>
        <p:guide pos="1731"/>
        <p:guide pos="1867"/>
        <p:guide pos="2547"/>
        <p:guide pos="2683"/>
        <p:guide pos="3500"/>
        <p:guide pos="3364"/>
        <p:guide pos="4316"/>
        <p:guide pos="5133"/>
        <p:guide pos="4997"/>
        <p:guide pos="5949"/>
        <p:guide pos="5813"/>
        <p:guide pos="6788"/>
        <p:guide pos="6630"/>
        <p:guide orient="horz" pos="3521"/>
        <p:guide orient="horz" pos="2886"/>
        <p:guide orient="horz" pos="2228"/>
        <p:guide orient="horz" pos="2092"/>
        <p:guide orient="horz" pos="1434"/>
        <p:guide orient="horz" pos="935"/>
        <p:guide orient="horz" pos="799"/>
        <p:guide orient="horz" pos="2750"/>
        <p:guide orient="horz" pos="1570"/>
        <p:guide pos="234"/>
        <p:guide orient="horz"/>
        <p:guide orient="horz" pos="3385"/>
        <p:guide orient="horz" pos="4320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ACBC4-EA97-0441-80EA-8BD6CAA6C37E}" type="datetimeFigureOut">
              <a:rPr kumimoji="1" lang="ko-KR" altLang="en-US" smtClean="0"/>
              <a:t>2025. 5. 25.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C61C8-A00B-B749-AE98-6E7306C6FB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7050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6641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6330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9445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5880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62013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4562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4110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9197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2ED1-2FCB-9308-C29A-21D87244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11233-78C9-DAE0-9997-65BFAA10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5242-B197-AB4E-52A4-9464C5768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D472-2C2B-BAEC-347D-BD978CA87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3563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8955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4C82-B2AD-5322-BB25-52921B96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794E1-741C-C09C-59C3-1BA5F7651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59DCE-63C4-1C3E-6449-8FF01C26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2B8D5-9AE9-85A5-8429-470AB51BC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521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50C8-10B1-B658-7271-C63C5DAC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8F484-26AB-5DA3-B7BF-51777DD95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6449F-031C-0E1B-644A-BE99D2BD6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2E4AE-434C-5909-400A-2AAC8BFF7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446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4348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2638F-3105-0F5B-2019-8ED9157B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2AAD5-CA2D-071C-BDA5-74BAA8837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92E68-017B-CA71-3821-20DFEC2E0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FCF88-0643-D067-5E00-F866339FD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450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C61C8-A00B-B749-AE98-6E7306C6FBF8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650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6741C8F-8A66-AAED-9B70-27A98CBC7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888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4272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71EDE26-CA61-4571-B5E3-AB216019D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54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79985A3-0E28-6587-6212-47F6E071B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FF771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9437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44B9E8E-C9B1-AFFE-085B-56C72F512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88888">
                    <a:alpha val="60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157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BD4CC07-6F2A-2EF9-2125-64647174B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>
                    <a:alpha val="6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422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9045A58-6554-40A1-4F94-6865070AF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FF7710">
                    <a:alpha val="60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0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530E42E-147E-50F0-991E-3C0D37BEE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88888">
                    <a:alpha val="60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43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873CEA6-EFD6-8ADF-BA36-05D8B6A8C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>
                    <a:alpha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080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FC53B76-7CDF-7494-972A-4AD751313CDD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rgbClr val="78726E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rgbClr val="78726E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rgbClr val="78726E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4521DF-2EE8-3DE8-DE55-A1539E1C2E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2C14366-A15D-8FD4-4D78-BE599E87F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888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82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>
          <p15:clr>
            <a:srgbClr val="F26B43"/>
          </p15:clr>
        </p15:guide>
        <p15:guide id="2" pos="3840">
          <p15:clr>
            <a:srgbClr val="F26B43"/>
          </p15:clr>
        </p15:guide>
        <p15:guide id="3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7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0BB3A0-1D63-DB58-2E46-70191E9075AC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chemeClr val="bg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36204E-A9A5-895A-CA42-4D1235C381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7CEDB2E-8EB7-0EE0-A95C-FA05AFE1E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234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92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A98A6-A126-3B8B-4104-59FAF2830912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rgbClr val="FF771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rgbClr val="FF771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rgbClr val="FF771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0EE2A9-7946-2AD3-E457-FFC1EAB781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98BFEFE-28F1-9F9E-5874-E19973FEE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FF771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988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5E5126-5D7F-5D46-2C5D-2FC9B4950987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rgbClr val="78726E">
                    <a:alpha val="60000"/>
                  </a:srgb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rgbClr val="78726E">
                    <a:alpha val="60000"/>
                  </a:srgb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rgbClr val="78726E">
                    <a:alpha val="60000"/>
                  </a:srgb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85FB2C-A45E-E83B-26C5-191461E8E1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2812D39-E191-D75F-CC4C-F50185E9D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88888">
                    <a:alpha val="60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501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7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0BDBE0-4926-B9A9-87DA-4DFFE86FD73B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chemeClr val="bg1">
                    <a:alpha val="6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chemeClr val="bg1">
                    <a:alpha val="6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chemeClr val="bg1">
                    <a:alpha val="6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E8BF52-B5B0-B42C-40EE-87769A580F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8F05AE-4DD8-104C-E188-23E8110E2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>
                    <a:alpha val="6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25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92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A664A8-FD1F-376F-D3FB-FFE0B2F65038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rgbClr val="FF7710">
                    <a:alpha val="60000"/>
                  </a:srgb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rgbClr val="FF7710">
                    <a:alpha val="60000"/>
                  </a:srgb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rgbClr val="FF7710">
                    <a:alpha val="60000"/>
                  </a:srgb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F9078D-F2AB-55FF-852B-381E29E7A4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F99BF8E-7BBB-E4EF-2D05-8E03B15C7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FF7710">
                    <a:alpha val="60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935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27DEFD46-2A30-EB50-EA31-A65B6E820F54}"/>
              </a:ext>
            </a:extLst>
          </p:cNvPr>
          <p:cNvGrpSpPr/>
          <p:nvPr userDrawn="1"/>
        </p:nvGrpSpPr>
        <p:grpSpPr>
          <a:xfrm>
            <a:off x="371476" y="6309534"/>
            <a:ext cx="4028781" cy="215444"/>
            <a:chOff x="371476" y="6309534"/>
            <a:chExt cx="4028781" cy="2154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ED07FA-2275-3EAA-33F9-232E19FD3FFD}"/>
                </a:ext>
              </a:extLst>
            </p:cNvPr>
            <p:cNvSpPr txBox="1"/>
            <p:nvPr userDrawn="1"/>
          </p:nvSpPr>
          <p:spPr>
            <a:xfrm>
              <a:off x="1626741" y="6309534"/>
              <a:ext cx="27735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ko-KR" sz="800" b="0" i="0" dirty="0">
                  <a:solidFill>
                    <a:srgbClr val="78726E">
                      <a:alpha val="60000"/>
                    </a:srgbClr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Copyright 202</a:t>
              </a:r>
              <a:r>
                <a:rPr lang="en-US" altLang="ko-KR" sz="800" b="0" i="0" dirty="0">
                  <a:solidFill>
                    <a:srgbClr val="78726E">
                      <a:alpha val="60000"/>
                    </a:srgbClr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lang="en" altLang="ko-KR" sz="800" b="0" i="0" dirty="0">
                  <a:solidFill>
                    <a:srgbClr val="78726E">
                      <a:alpha val="60000"/>
                    </a:srgbClr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LIKELION all rights reserved.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29AD7E7-B73E-FFB5-9BC7-3E84411AA5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1476" y="6358231"/>
              <a:ext cx="1152000" cy="128000"/>
            </a:xfrm>
            <a:prstGeom prst="rect">
              <a:avLst/>
            </a:prstGeom>
          </p:spPr>
        </p:pic>
      </p:grp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288095-2C50-94E4-253D-F5A2903CE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rgbClr val="888888">
                    <a:alpha val="60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678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23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AD1C43-C17C-4655-7244-344FDDB18D6A}"/>
              </a:ext>
            </a:extLst>
          </p:cNvPr>
          <p:cNvSpPr txBox="1"/>
          <p:nvPr userDrawn="1"/>
        </p:nvSpPr>
        <p:spPr>
          <a:xfrm>
            <a:off x="5250730" y="-7258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65744-6666-C740-43B6-F7C62DBF2391}"/>
              </a:ext>
            </a:extLst>
          </p:cNvPr>
          <p:cNvSpPr txBox="1"/>
          <p:nvPr userDrawn="1"/>
        </p:nvSpPr>
        <p:spPr>
          <a:xfrm>
            <a:off x="1626741" y="6309534"/>
            <a:ext cx="27735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800" b="0" i="0" dirty="0">
                <a:solidFill>
                  <a:schemeClr val="bg1">
                    <a:alpha val="4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202</a:t>
            </a:r>
            <a:r>
              <a:rPr lang="en-US" altLang="ko-KR" sz="800" b="0" i="0" dirty="0">
                <a:solidFill>
                  <a:schemeClr val="bg1">
                    <a:alpha val="4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" altLang="ko-KR" sz="800" b="0" i="0" dirty="0">
                <a:solidFill>
                  <a:schemeClr val="bg1">
                    <a:alpha val="4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LIKELION all rights reserved.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34B95D-BC1D-A618-8F5A-E06965782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371476" y="6358231"/>
            <a:ext cx="1152000" cy="1280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92444FF-97E1-B931-ED3E-254756982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1800" y="6308900"/>
            <a:ext cx="2743200" cy="363600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>
                    <a:alpha val="4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DECD85E2-ECE6-C544-B7CB-C3DE0990A8B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6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E73726-177D-B5C2-7791-EA8F26173AFE}"/>
              </a:ext>
            </a:extLst>
          </p:cNvPr>
          <p:cNvSpPr txBox="1"/>
          <p:nvPr/>
        </p:nvSpPr>
        <p:spPr>
          <a:xfrm>
            <a:off x="371475" y="2129948"/>
            <a:ext cx="648017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ko-KR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Lecture Team (</a:t>
            </a:r>
            <a:r>
              <a:rPr kumimoji="1" lang="ko-KR" altLang="en-US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김형우</a:t>
            </a:r>
            <a:r>
              <a:rPr kumimoji="1" lang="en-US" altLang="ko-KR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)</a:t>
            </a:r>
            <a:endParaRPr kumimoji="1" lang="ko-KR" altLang="en-US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345AF-37B9-448A-E653-AEEB73FC25FF}"/>
              </a:ext>
            </a:extLst>
          </p:cNvPr>
          <p:cNvSpPr txBox="1"/>
          <p:nvPr/>
        </p:nvSpPr>
        <p:spPr>
          <a:xfrm>
            <a:off x="371475" y="448658"/>
            <a:ext cx="114977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ko-KR" sz="4800" b="1" spc="-150" dirty="0">
                <a:solidFill>
                  <a:srgbClr val="1C1B1A"/>
                </a:solidFill>
                <a:latin typeface="SUITE ExtraBold" pitchFamily="2" charset="-127"/>
                <a:ea typeface="SUITE ExtraBold" pitchFamily="2" charset="-127"/>
                <a:cs typeface="Pretendard" panose="02000503000000020004" pitchFamily="2" charset="-127"/>
              </a:rPr>
              <a:t>LIKELION Spring 2025 Final Presentation </a:t>
            </a:r>
            <a:endParaRPr kumimoji="1" lang="ko-KR" altLang="en-US" sz="4800" b="1" spc="-150" dirty="0">
              <a:solidFill>
                <a:srgbClr val="1C1B1A"/>
              </a:solidFill>
              <a:latin typeface="SUITE ExtraBold" pitchFamily="2" charset="-127"/>
              <a:ea typeface="SUITE ExtraBold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878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C517BC-D7BD-BD28-7211-71205EC25FD1}"/>
              </a:ext>
            </a:extLst>
          </p:cNvPr>
          <p:cNvSpPr txBox="1"/>
          <p:nvPr/>
        </p:nvSpPr>
        <p:spPr>
          <a:xfrm>
            <a:off x="5782614" y="2193448"/>
            <a:ext cx="5961711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kumimoji="1" lang="ko-KR" altLang="en-US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강의 내용과 실습 내용</a:t>
            </a:r>
            <a:endParaRPr kumimoji="1" lang="en-US" altLang="ko-KR" sz="4000" b="1" spc="-4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r>
              <a:rPr kumimoji="1" lang="en-US" altLang="ko-KR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2.</a:t>
            </a:r>
            <a:r>
              <a:rPr kumimoji="1" lang="ko-KR" altLang="en-US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프로젝트 선정 이유</a:t>
            </a:r>
            <a:endParaRPr kumimoji="1" lang="en-US" altLang="ko-KR" sz="4000" b="1" spc="-4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r>
              <a:rPr kumimoji="1" lang="en-US" altLang="ko-KR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3.</a:t>
            </a:r>
            <a:r>
              <a:rPr kumimoji="1" lang="ko-KR" altLang="en-US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프로젝트 소개</a:t>
            </a:r>
            <a:endParaRPr kumimoji="1" lang="en-US" altLang="ko-KR" sz="4000" b="1" spc="-4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r>
              <a:rPr kumimoji="1" lang="en-US" altLang="ko-KR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4.</a:t>
            </a:r>
            <a:r>
              <a:rPr kumimoji="1" lang="ko-KR" altLang="en-US" sz="4000" b="1" spc="-4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결론 및 향후 개선점 </a:t>
            </a:r>
            <a:endParaRPr kumimoji="1" lang="en-US" altLang="ko-KR" sz="4000" b="1" spc="-40" dirty="0">
              <a:solidFill>
                <a:schemeClr val="bg1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3071A-2D2C-5DE1-261E-405B8C4FE0F3}"/>
              </a:ext>
            </a:extLst>
          </p:cNvPr>
          <p:cNvSpPr txBox="1"/>
          <p:nvPr/>
        </p:nvSpPr>
        <p:spPr>
          <a:xfrm>
            <a:off x="736600" y="2644813"/>
            <a:ext cx="54324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ko-KR" sz="4800" b="1" spc="-150" dirty="0">
                <a:solidFill>
                  <a:schemeClr val="bg1"/>
                </a:solidFill>
                <a:latin typeface="SUITE ExtraBold" pitchFamily="2" charset="-127"/>
                <a:ea typeface="SUITE ExtraBold" pitchFamily="2" charset="-127"/>
                <a:cs typeface="Pretendard" panose="02000503000000020004" pitchFamily="2" charset="-127"/>
              </a:rPr>
              <a:t>Today’s Agenda</a:t>
            </a:r>
            <a:endParaRPr kumimoji="1" lang="ko-KR" altLang="en-US" sz="4800" b="1" spc="-150" dirty="0">
              <a:solidFill>
                <a:schemeClr val="bg1"/>
              </a:solidFill>
              <a:latin typeface="SUITE ExtraBold" pitchFamily="2" charset="-127"/>
              <a:ea typeface="SUITE ExtraBold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802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042E-181D-EF9B-037F-02AD14B2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0DD7014-19FE-3E72-1A80-5420EABC9CC1}"/>
              </a:ext>
            </a:extLst>
          </p:cNvPr>
          <p:cNvSpPr txBox="1"/>
          <p:nvPr/>
        </p:nvSpPr>
        <p:spPr>
          <a:xfrm>
            <a:off x="543418" y="560766"/>
            <a:ext cx="285660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ko-KR" altLang="en-US" sz="4800" spc="-150" dirty="0">
                <a:latin typeface="SUITE ExtraBold" pitchFamily="2" charset="-127"/>
                <a:ea typeface="SUITE ExtraBold" pitchFamily="2" charset="-127"/>
                <a:cs typeface="Pretendard" panose="02000503000000020004" pitchFamily="2" charset="-127"/>
              </a:rPr>
              <a:t>강의 내용 및 실습</a:t>
            </a:r>
          </a:p>
        </p:txBody>
      </p:sp>
      <p:pic>
        <p:nvPicPr>
          <p:cNvPr id="1026" name="Picture 2" descr="머신러닝에 대해 잘못 알고 있는 5가지 &lt; 리스티클 &lt; 포커스 &lt; 기사본문 - AI타임스">
            <a:extLst>
              <a:ext uri="{FF2B5EF4-FFF2-40B4-BE49-F238E27FC236}">
                <a16:creationId xmlns:a16="http://schemas.microsoft.com/office/drawing/2014/main" id="{617F3866-35BC-B3E7-4DED-1D1DEAE16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804" y="0"/>
            <a:ext cx="797019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ify Data Exploration with Embeddings">
            <a:extLst>
              <a:ext uri="{FF2B5EF4-FFF2-40B4-BE49-F238E27FC236}">
                <a16:creationId xmlns:a16="http://schemas.microsoft.com/office/drawing/2014/main" id="{B1FACF72-FFBF-0272-E689-D6B784EC0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041" y="3428999"/>
            <a:ext cx="3567721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98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C0FFB-0B8E-331B-0BCA-FDB46AD8E4D6}"/>
              </a:ext>
            </a:extLst>
          </p:cNvPr>
          <p:cNvSpPr txBox="1"/>
          <p:nvPr/>
        </p:nvSpPr>
        <p:spPr>
          <a:xfrm>
            <a:off x="6337300" y="2380140"/>
            <a:ext cx="4149725" cy="36625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Tx/>
              <a:buChar char="-"/>
            </a:pPr>
            <a:r>
              <a:rPr kumimoji="1" lang="en-US" altLang="ko-KR" sz="3200" b="1" spc="-40" dirty="0">
                <a:solidFill>
                  <a:srgbClr val="FF771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SQL</a:t>
            </a: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r>
              <a:rPr kumimoji="1" lang="en-US" altLang="ko-KR" sz="3200" b="1" spc="-40" dirty="0">
                <a:solidFill>
                  <a:srgbClr val="FF7710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Tableau</a:t>
            </a: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endParaRPr kumimoji="1" lang="ko-KR" altLang="en-US" sz="2400" b="1" spc="-40" dirty="0">
              <a:solidFill>
                <a:srgbClr val="FF7710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22139-7A84-60C0-D8B0-7EA2F5954EC5}"/>
              </a:ext>
            </a:extLst>
          </p:cNvPr>
          <p:cNvSpPr txBox="1"/>
          <p:nvPr/>
        </p:nvSpPr>
        <p:spPr>
          <a:xfrm>
            <a:off x="1327150" y="2274838"/>
            <a:ext cx="379095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ko-KR" sz="4800" b="1" spc="-150" dirty="0">
                <a:solidFill>
                  <a:srgbClr val="FF7710"/>
                </a:solidFill>
                <a:latin typeface="SUITE ExtraBold" pitchFamily="2" charset="-127"/>
                <a:ea typeface="SUITE ExtraBold" pitchFamily="2" charset="-127"/>
                <a:cs typeface="Pretendard" panose="02000503000000020004" pitchFamily="2" charset="-127"/>
              </a:rPr>
              <a:t>Reason for Choosing this Project</a:t>
            </a:r>
            <a:endParaRPr kumimoji="1" lang="ko-KR" altLang="en-US" sz="4800" b="1" spc="-150" dirty="0">
              <a:solidFill>
                <a:srgbClr val="FF7710"/>
              </a:solidFill>
              <a:latin typeface="SUITE ExtraBold" pitchFamily="2" charset="-127"/>
              <a:ea typeface="SUITE ExtraBold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73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30">
            <a:extLst>
              <a:ext uri="{FF2B5EF4-FFF2-40B4-BE49-F238E27FC236}">
                <a16:creationId xmlns:a16="http://schemas.microsoft.com/office/drawing/2014/main" id="{44920D14-F48C-6104-BC5D-808110C85045}"/>
              </a:ext>
            </a:extLst>
          </p:cNvPr>
          <p:cNvSpPr txBox="1"/>
          <p:nvPr/>
        </p:nvSpPr>
        <p:spPr>
          <a:xfrm>
            <a:off x="371475" y="448658"/>
            <a:ext cx="383222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" altLang="ko-KR" sz="5200" b="1" spc="-150" dirty="0">
                <a:solidFill>
                  <a:srgbClr val="1C1B1A"/>
                </a:solidFill>
                <a:effectLst/>
                <a:latin typeface="Gotham Bold" pitchFamily="2" charset="0"/>
                <a:ea typeface="맑은 고딕"/>
              </a:rPr>
              <a:t>Project </a:t>
            </a:r>
          </a:p>
          <a:p>
            <a:pPr>
              <a:lnSpc>
                <a:spcPts val="6000"/>
              </a:lnSpc>
            </a:pPr>
            <a:r>
              <a:rPr lang="en" altLang="ko-KR" sz="5200" b="1" spc="-150" dirty="0">
                <a:solidFill>
                  <a:srgbClr val="1C1B1A"/>
                </a:solidFill>
                <a:effectLst/>
                <a:latin typeface="Gotham Bold" pitchFamily="2" charset="0"/>
                <a:ea typeface="맑은 고딕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EB32E-1C11-3E7A-9776-E8336DF5FBE3}"/>
              </a:ext>
            </a:extLst>
          </p:cNvPr>
          <p:cNvSpPr txBox="1"/>
          <p:nvPr/>
        </p:nvSpPr>
        <p:spPr>
          <a:xfrm>
            <a:off x="5702300" y="2079874"/>
            <a:ext cx="594360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Tx/>
              <a:buChar char="-"/>
            </a:pPr>
            <a:r>
              <a:rPr kumimoji="1" lang="en-US" altLang="ko-KR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Online Shopping Analytics Project</a:t>
            </a: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r>
              <a:rPr kumimoji="1" lang="en-US" altLang="ko-KR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Data Set (Online Shopping Dataset)</a:t>
            </a: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r>
              <a:rPr kumimoji="1" lang="en-US" altLang="ko-KR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Project Objective</a:t>
            </a: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r>
              <a:rPr kumimoji="1" lang="en-US" altLang="ko-KR" sz="2400" b="1" spc="-40" dirty="0">
                <a:solidFill>
                  <a:srgbClr val="1C1B1A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Expected Outcome</a:t>
            </a: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342900" indent="-342900">
              <a:buFontTx/>
              <a:buChar char="-"/>
            </a:pPr>
            <a:endParaRPr kumimoji="1" lang="en-US" altLang="ko-KR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endParaRPr kumimoji="1" lang="en-US" altLang="ko-KR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endParaRPr kumimoji="1" lang="ko-KR" altLang="en-US" sz="2400" b="1" spc="-40" dirty="0">
              <a:solidFill>
                <a:srgbClr val="1C1B1A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625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6AEE8-7CC0-2B16-F5A3-65D30341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30">
            <a:extLst>
              <a:ext uri="{FF2B5EF4-FFF2-40B4-BE49-F238E27FC236}">
                <a16:creationId xmlns:a16="http://schemas.microsoft.com/office/drawing/2014/main" id="{3890D49E-C25D-1C9E-CA5F-F4F6F429CB15}"/>
              </a:ext>
            </a:extLst>
          </p:cNvPr>
          <p:cNvSpPr txBox="1"/>
          <p:nvPr/>
        </p:nvSpPr>
        <p:spPr>
          <a:xfrm>
            <a:off x="1401785" y="925176"/>
            <a:ext cx="3832225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ko-KR" sz="5200" b="1" spc="-150" dirty="0">
                <a:solidFill>
                  <a:srgbClr val="1C1B1A"/>
                </a:solidFill>
                <a:effectLst/>
                <a:latin typeface="Gotham Bold" pitchFamily="2" charset="0"/>
                <a:ea typeface="맑은 고딕"/>
              </a:rPr>
              <a:t>Query</a:t>
            </a:r>
            <a:endParaRPr lang="en" altLang="ko-KR" sz="5200" b="1" spc="-150" dirty="0">
              <a:solidFill>
                <a:srgbClr val="1C1B1A"/>
              </a:solidFill>
              <a:effectLst/>
              <a:latin typeface="Gotham Bold" pitchFamily="2" charset="0"/>
              <a:ea typeface="맑은 고딕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018189-6A43-A623-A66A-CA8004BD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75" y="2295729"/>
            <a:ext cx="6982028" cy="3637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53AD2D-7AAA-9215-E80A-283E488E4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641" y="925176"/>
            <a:ext cx="4204916" cy="528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04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C7B12E-0D3C-5D6E-33F4-EAD39BCA5EF3}"/>
              </a:ext>
            </a:extLst>
          </p:cNvPr>
          <p:cNvSpPr txBox="1"/>
          <p:nvPr/>
        </p:nvSpPr>
        <p:spPr>
          <a:xfrm>
            <a:off x="384175" y="448658"/>
            <a:ext cx="1126318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ko-KR" sz="4800" b="1" spc="-150" dirty="0">
                <a:effectLst/>
                <a:latin typeface="Gotham Bold" pitchFamily="2" charset="0"/>
                <a:ea typeface="맑은 고딕"/>
              </a:rPr>
              <a:t>Dashboard</a:t>
            </a:r>
            <a:r>
              <a:rPr lang="en-US" altLang="ko-KR" sz="5200" b="1" spc="-150" dirty="0">
                <a:effectLst/>
                <a:latin typeface="Gotham Bold" pitchFamily="2" charset="0"/>
                <a:ea typeface="맑은 고딕"/>
              </a:rPr>
              <a:t> 1</a:t>
            </a:r>
            <a:r>
              <a:rPr lang="ko-KR" altLang="en-US" sz="5200" b="1" spc="-150" dirty="0">
                <a:effectLst/>
                <a:latin typeface="Gotham Bold" pitchFamily="2" charset="0"/>
                <a:ea typeface="맑은 고딕"/>
              </a:rPr>
              <a:t> </a:t>
            </a:r>
            <a:r>
              <a:rPr lang="en-US" altLang="ko-KR" sz="5200" b="1" spc="-150" dirty="0">
                <a:effectLst/>
                <a:latin typeface="Gotham Bold" pitchFamily="2" charset="0"/>
                <a:ea typeface="맑은 고딕"/>
              </a:rPr>
              <a:t>:</a:t>
            </a:r>
            <a:r>
              <a:rPr lang="ko-KR" altLang="en-US" sz="5200" b="1" spc="-150" dirty="0">
                <a:effectLst/>
                <a:latin typeface="Gotham Bold" pitchFamily="2" charset="0"/>
                <a:ea typeface="맑은 고딕"/>
              </a:rPr>
              <a:t> 연령대별 소비 트랜드 분석 </a:t>
            </a:r>
            <a:endParaRPr lang="en" altLang="ko-KR" sz="5200" b="1" spc="-150" dirty="0">
              <a:effectLst/>
              <a:latin typeface="Gotham Bold" pitchFamily="2" charset="0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5457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51A8C-2CF5-51EB-A270-449ADE38A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CD85E2-ECE6-C544-B7CB-C3DE0990A8BE}" type="slidenum">
              <a:rPr kumimoji="1" lang="ko-KR" altLang="en-US" smtClean="0"/>
              <a:pPr/>
              <a:t>8</a:t>
            </a:fld>
            <a:endParaRPr kumimoji="1" lang="ko-KR" altLang="en-US" dirty="0"/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F95ADAF9-9DA2-37BD-2C52-9B488BCFA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49792-F673-50D1-DE0F-D28D0844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91D71FA-32FD-7F73-34CC-5F985CD15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2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C987F-7376-C4F4-91D5-E81D71D770F3}"/>
              </a:ext>
            </a:extLst>
          </p:cNvPr>
          <p:cNvSpPr txBox="1"/>
          <p:nvPr/>
        </p:nvSpPr>
        <p:spPr>
          <a:xfrm>
            <a:off x="371475" y="448658"/>
            <a:ext cx="9072563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ko-KR" sz="5200" b="1" spc="-150" dirty="0">
                <a:solidFill>
                  <a:srgbClr val="FF7710"/>
                </a:solidFill>
                <a:latin typeface="Gotham Bold" pitchFamily="2" charset="0"/>
                <a:ea typeface="맑은 고딕"/>
              </a:rPr>
              <a:t>Dashboard 2</a:t>
            </a:r>
            <a:r>
              <a:rPr lang="ko-KR" altLang="en-US" sz="5200" b="1" spc="-150" dirty="0">
                <a:solidFill>
                  <a:srgbClr val="FF7710"/>
                </a:solidFill>
                <a:latin typeface="Gotham Bold" pitchFamily="2" charset="0"/>
                <a:ea typeface="맑은 고딕"/>
              </a:rPr>
              <a:t> </a:t>
            </a:r>
            <a:r>
              <a:rPr lang="en-US" altLang="ko-KR" sz="5200" b="1" spc="-150" dirty="0">
                <a:solidFill>
                  <a:srgbClr val="FF7710"/>
                </a:solidFill>
                <a:latin typeface="Gotham Bold" pitchFamily="2" charset="0"/>
                <a:ea typeface="맑은 고딕"/>
              </a:rPr>
              <a:t>:</a:t>
            </a:r>
            <a:r>
              <a:rPr lang="ko-KR" altLang="en-US" sz="5200" b="1" spc="-150" dirty="0">
                <a:solidFill>
                  <a:srgbClr val="FF7710"/>
                </a:solidFill>
                <a:latin typeface="Gotham Bold" pitchFamily="2" charset="0"/>
                <a:ea typeface="맑은 고딕"/>
              </a:rPr>
              <a:t> 시즌 기반 분석</a:t>
            </a:r>
            <a:endParaRPr lang="en" altLang="ko-KR" sz="5200" b="1" spc="-150" dirty="0">
              <a:solidFill>
                <a:srgbClr val="FF7710"/>
              </a:solidFill>
              <a:effectLst/>
              <a:latin typeface="Gotham Bold" pitchFamily="2" charset="0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1540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12ED-CE78-ECB7-AB23-0C130078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green bars&#10;&#10;Description automatically generated with medium confidence">
            <a:extLst>
              <a:ext uri="{FF2B5EF4-FFF2-40B4-BE49-F238E27FC236}">
                <a16:creationId xmlns:a16="http://schemas.microsoft.com/office/drawing/2014/main" id="{AB66AA01-8537-663D-94AB-6A9961EAE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06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3FAB-C2E7-6606-4B3A-6008F811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different types of clothing&#10;&#10;Description automatically generated with medium confidence">
            <a:extLst>
              <a:ext uri="{FF2B5EF4-FFF2-40B4-BE49-F238E27FC236}">
                <a16:creationId xmlns:a16="http://schemas.microsoft.com/office/drawing/2014/main" id="{A7B4829B-A14B-65FC-9031-B18ABDB0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68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C2ACD0A-5077-DFDD-03FD-1063F9CAE137}"/>
              </a:ext>
            </a:extLst>
          </p:cNvPr>
          <p:cNvSpPr txBox="1"/>
          <p:nvPr/>
        </p:nvSpPr>
        <p:spPr>
          <a:xfrm>
            <a:off x="371475" y="359264"/>
            <a:ext cx="237648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1200" b="1" baseline="0">
                <a:solidFill>
                  <a:schemeClr val="bg1">
                    <a:alpha val="60000"/>
                  </a:schemeClr>
                </a:solidFill>
                <a:latin typeface="Gotham Bold"/>
                <a:ea typeface="Pretendard"/>
                <a:cs typeface="Pretendard" panose="02000503000000020004" pitchFamily="2" charset="-127"/>
              </a:rPr>
              <a:t>INDEX</a:t>
            </a:r>
            <a:endParaRPr lang="ko-KR" altLang="en-US" sz="1200" b="1" baseline="0">
              <a:solidFill>
                <a:schemeClr val="bg1">
                  <a:alpha val="60000"/>
                </a:schemeClr>
              </a:solidFill>
              <a:latin typeface="Gotham Bold"/>
              <a:ea typeface="Pretendard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AC488-C5EF-6987-A983-4D7C24F2A342}"/>
              </a:ext>
            </a:extLst>
          </p:cNvPr>
          <p:cNvSpPr txBox="1"/>
          <p:nvPr/>
        </p:nvSpPr>
        <p:spPr>
          <a:xfrm>
            <a:off x="9120188" y="6308953"/>
            <a:ext cx="2592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alpha val="6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" altLang="ko-KR" sz="800" dirty="0">
              <a:solidFill>
                <a:schemeClr val="bg1">
                  <a:alpha val="60000"/>
                </a:schemeClr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88C49-10CA-3BF8-1675-CCD74EEC3949}"/>
              </a:ext>
            </a:extLst>
          </p:cNvPr>
          <p:cNvSpPr txBox="1"/>
          <p:nvPr/>
        </p:nvSpPr>
        <p:spPr>
          <a:xfrm>
            <a:off x="384175" y="448658"/>
            <a:ext cx="11328400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ko-KR" sz="5200" b="1" spc="-150" dirty="0">
                <a:solidFill>
                  <a:schemeClr val="bg1"/>
                </a:solidFill>
                <a:effectLst/>
                <a:latin typeface="Gotham Bold" pitchFamily="2" charset="0"/>
                <a:ea typeface="맑은 고딕"/>
              </a:rPr>
              <a:t>Dashboard 3:</a:t>
            </a:r>
            <a:r>
              <a:rPr lang="ko-KR" altLang="en-US" sz="5200" b="1" spc="-150" dirty="0">
                <a:solidFill>
                  <a:schemeClr val="bg1"/>
                </a:solidFill>
                <a:effectLst/>
                <a:latin typeface="Gotham Bold" pitchFamily="2" charset="0"/>
                <a:ea typeface="맑은 고딕"/>
              </a:rPr>
              <a:t> </a:t>
            </a:r>
            <a:r>
              <a:rPr lang="ko-KR" altLang="en-US" sz="5400" dirty="0">
                <a:solidFill>
                  <a:schemeClr val="bg1"/>
                </a:solidFill>
              </a:rPr>
              <a:t>성별에 따른 소비자 분석</a:t>
            </a:r>
            <a:endParaRPr lang="en" altLang="ko-KR" sz="5200" b="1" spc="-150" dirty="0">
              <a:solidFill>
                <a:schemeClr val="bg1"/>
              </a:solidFill>
              <a:effectLst/>
              <a:latin typeface="Gotham Bold" pitchFamily="2" charset="0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29866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091C-470A-50A6-77E1-47124B22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78E12B-248A-FFF8-23F9-5C489ABFB1DF}"/>
              </a:ext>
            </a:extLst>
          </p:cNvPr>
          <p:cNvSpPr txBox="1"/>
          <p:nvPr/>
        </p:nvSpPr>
        <p:spPr>
          <a:xfrm>
            <a:off x="371475" y="359264"/>
            <a:ext cx="237648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1200" b="1" baseline="0">
                <a:solidFill>
                  <a:schemeClr val="bg1">
                    <a:alpha val="60000"/>
                  </a:schemeClr>
                </a:solidFill>
                <a:latin typeface="Gotham Bold"/>
                <a:ea typeface="Pretendard"/>
                <a:cs typeface="Pretendard" panose="02000503000000020004" pitchFamily="2" charset="-127"/>
              </a:rPr>
              <a:t>INDEX</a:t>
            </a:r>
            <a:endParaRPr lang="ko-KR" altLang="en-US" sz="1200" b="1" baseline="0">
              <a:solidFill>
                <a:schemeClr val="bg1">
                  <a:alpha val="60000"/>
                </a:schemeClr>
              </a:solidFill>
              <a:latin typeface="Gotham Bold"/>
              <a:ea typeface="Pretendard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FF972A-E820-E729-B78B-FDD9EFE7AF08}"/>
              </a:ext>
            </a:extLst>
          </p:cNvPr>
          <p:cNvSpPr txBox="1"/>
          <p:nvPr/>
        </p:nvSpPr>
        <p:spPr>
          <a:xfrm>
            <a:off x="9120188" y="6308953"/>
            <a:ext cx="2592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alpha val="60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" altLang="ko-KR" sz="800" dirty="0">
              <a:solidFill>
                <a:schemeClr val="bg1">
                  <a:alpha val="60000"/>
                </a:schemeClr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97B5B8DB-BEA4-77A6-0A75-A8D3B0538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97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56BE-30E5-2628-45DF-86DF0260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30">
            <a:extLst>
              <a:ext uri="{FF2B5EF4-FFF2-40B4-BE49-F238E27FC236}">
                <a16:creationId xmlns:a16="http://schemas.microsoft.com/office/drawing/2014/main" id="{28985484-B15A-DF8D-8802-97E6AF8D348F}"/>
              </a:ext>
            </a:extLst>
          </p:cNvPr>
          <p:cNvSpPr txBox="1"/>
          <p:nvPr/>
        </p:nvSpPr>
        <p:spPr>
          <a:xfrm>
            <a:off x="546100" y="572644"/>
            <a:ext cx="3963907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ko-KR" sz="5200" b="1" spc="-150" dirty="0">
                <a:solidFill>
                  <a:srgbClr val="1C1B1A"/>
                </a:solidFill>
                <a:effectLst/>
                <a:latin typeface="Gotham Bold" pitchFamily="2" charset="0"/>
                <a:ea typeface="맑은 고딕"/>
              </a:rPr>
              <a:t>Conclusions and </a:t>
            </a:r>
            <a:r>
              <a:rPr lang="en-US" altLang="ko-KR" sz="5200" b="1" spc="-150" dirty="0">
                <a:solidFill>
                  <a:srgbClr val="1C1B1A"/>
                </a:solidFill>
                <a:latin typeface="Gotham Bold" pitchFamily="2" charset="0"/>
                <a:ea typeface="맑은 고딕"/>
              </a:rPr>
              <a:t>F</a:t>
            </a:r>
            <a:r>
              <a:rPr lang="en-US" altLang="ko-KR" sz="5200" b="1" spc="-150" dirty="0">
                <a:solidFill>
                  <a:srgbClr val="1C1B1A"/>
                </a:solidFill>
                <a:effectLst/>
                <a:latin typeface="Gotham Bold" pitchFamily="2" charset="0"/>
                <a:ea typeface="맑은 고딕"/>
              </a:rPr>
              <a:t>uture improvements</a:t>
            </a:r>
            <a:endParaRPr lang="en" altLang="ko-KR" sz="5200" b="1" spc="-150" dirty="0">
              <a:solidFill>
                <a:srgbClr val="1C1B1A"/>
              </a:solidFill>
              <a:effectLst/>
              <a:latin typeface="Gotham Bold" pitchFamily="2" charset="0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02696261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 양식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표지 양식 v.오렌지 배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표지 양식 v.웜그레이 배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목차/간지 양식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목차/간지 양식 v.오렌지 배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목차/간지 양식 v.웜그레이 배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상세 내용 양식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상세 내용 양식 v.웜그레이 배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8568</TotalTime>
  <Words>104</Words>
  <Application>Microsoft Macintosh PowerPoint</Application>
  <PresentationFormat>Widescreen</PresentationFormat>
  <Paragraphs>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Gotham Bold</vt:lpstr>
      <vt:lpstr>맑은 고딕</vt:lpstr>
      <vt:lpstr>Pretendard</vt:lpstr>
      <vt:lpstr>Pretendard SemiBold</vt:lpstr>
      <vt:lpstr>SUITE ExtraBold</vt:lpstr>
      <vt:lpstr>Arial</vt:lpstr>
      <vt:lpstr>표지 양식</vt:lpstr>
      <vt:lpstr>표지 양식 v.오렌지 배경</vt:lpstr>
      <vt:lpstr>표지 양식 v.웜그레이 배경</vt:lpstr>
      <vt:lpstr>목차/간지 양식</vt:lpstr>
      <vt:lpstr>목차/간지 양식 v.오렌지 배경</vt:lpstr>
      <vt:lpstr>목차/간지 양식 v.웜그레이 배경</vt:lpstr>
      <vt:lpstr>상세 내용 양식</vt:lpstr>
      <vt:lpstr>상세 내용 양식 v.웜그레이 배경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지연</dc:creator>
  <cp:lastModifiedBy>HYOUNGWOO KIM</cp:lastModifiedBy>
  <cp:revision>76</cp:revision>
  <cp:lastPrinted>2023-05-19T02:27:19Z</cp:lastPrinted>
  <dcterms:created xsi:type="dcterms:W3CDTF">2023-04-17T01:58:07Z</dcterms:created>
  <dcterms:modified xsi:type="dcterms:W3CDTF">2025-05-25T05:46:16Z</dcterms:modified>
</cp:coreProperties>
</file>